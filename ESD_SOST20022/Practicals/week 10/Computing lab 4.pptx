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4" r:id="rId4"/>
    <p:sldId id="258" r:id="rId5"/>
    <p:sldId id="266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0"/>
    <p:restoredTop sz="94535"/>
  </p:normalViewPr>
  <p:slideViewPr>
    <p:cSldViewPr snapToGrid="0" snapToObjects="1">
      <p:cViewPr varScale="1">
        <p:scale>
          <a:sx n="57" d="100"/>
          <a:sy n="57" d="100"/>
        </p:scale>
        <p:origin x="9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FC8CE-94EC-6B4C-BB9C-D99D2267B207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F0E63-D5F9-294B-9A24-B29ED7D87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4F0E63-D5F9-294B-9A24-B29ED7D87A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573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4F0E63-D5F9-294B-9A24-B29ED7D87A5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634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F66D3-CF53-FF49-A72D-0C28F8D14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2239A8-21E1-754E-B545-72845BAED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900F39-C749-AA43-A790-06C9DC526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4A4E4C-5733-E34E-9DF1-A301EE9C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23EDDB-D4D6-BE40-BEDE-DA020103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38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D4231-993A-D645-9703-69323266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748" y="365125"/>
            <a:ext cx="9558051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GB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B42EBD-99A9-B947-B66A-AA4F3413E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748" y="1825625"/>
            <a:ext cx="9558052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GB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DD7B6-33E8-4947-BBFF-DB76D3A2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081DB7-C38D-C24E-9BF6-1309466E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8FE96-D079-3342-AFCC-4C19D683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91B5AC-8047-DE4F-9D36-B887D06F84F5}"/>
              </a:ext>
            </a:extLst>
          </p:cNvPr>
          <p:cNvSpPr/>
          <p:nvPr userDrawn="1"/>
        </p:nvSpPr>
        <p:spPr>
          <a:xfrm>
            <a:off x="-152400" y="-140676"/>
            <a:ext cx="1676400" cy="798341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42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DBA0C-1B1F-104F-AF26-B28A0912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EC5A8C-936D-D448-AF13-60F37E12B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C3787-F3D4-9143-9FFA-54864469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87C691-C82B-7B4A-B761-90FA94B3E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361703-6009-6148-8C3C-C0642D97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5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98E84-F607-6A45-8272-D93B9452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E69F66-F2C4-CE48-9C87-723983C13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58126A-FE11-DD49-84F8-7B921FC0E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B21561-CF7E-4845-9532-5D1FCAD1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877AB0-FD3B-D845-85AA-A404F9C2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8B4D49-B8BE-6243-A3C8-16CA7C36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9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1467C-5FCC-3D4F-8203-A37F06F3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1A7A99-FC44-FE4B-9E4B-35590596A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67084B-ECEC-744F-9563-4F5B18AB6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7A26098-4BE3-574C-B11B-EE1F07431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93F5D6-0A5B-F54B-BAA6-94B2BDA68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FF4AEE-1D44-2943-A76C-0B99E000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FD42F7-BBFB-624F-881B-42A35F3F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427534-4357-2344-B4B9-F3D0F298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92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8FBEF-9B72-E54A-BCCC-C01ADB8ED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624F76-312D-D14A-84BE-B57D0243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E3218-C239-9342-80D0-A3D35637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7655BA-8884-F747-8001-C4BE2861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24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2C77AF-588E-D648-A78D-114180DF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A87CA7-C154-4945-AF86-957EF9FC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8ACCF2-8765-7643-BB58-843CB5F5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063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705C7-8B3E-B148-916B-24A3A913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B4D29-019F-504C-B96C-A83EBA943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A335A2-FEA6-044F-B685-54CA00497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AE783F-7744-BF4B-AB46-FD6F06258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1554E8-CEA3-2D4A-9A21-A736750B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E0B38-93B9-1442-9F10-010D3F7A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7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E726B-6715-054D-9C1D-8F6F58164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0FF1D6A-FDBF-684D-9BE5-59912D782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F02B19-641D-2F48-A827-03AD68BBD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771644-9895-3340-B149-C73B491C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BB0B31-A097-BB45-B88F-2D3F7F67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D2567C-8937-3147-9D7C-3E7ECF9E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90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A507A-2E81-8D4E-AF25-4154C939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756D0E-9896-2347-B8FF-76EB6F171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032E88-966B-C94D-9C3F-543660F11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BD5B4C-691D-FE4D-8D28-1A1AC84C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7442EC-17BF-F24E-8F28-12681405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40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692B42-8388-AB49-A032-199000D23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E98D7F-62E6-7E43-937E-435511CB4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16C753-5F2D-C24B-8BC2-548E0DF65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4182A-B596-E045-9482-99FE5397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6756D-687F-6B47-AD7A-3AD7C5BC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91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113B85-9A83-D049-A663-1E6F00F2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00691C-5DE0-AB4E-B8B8-353E85B75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AB44BB-3F28-A04E-BA9F-F27DCE6DAD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23CE8-AB2F-D248-8E75-F9ECC5300C06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531526-E3CD-9442-AA31-882F4651E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93F11A-3E2E-844A-8E6B-5B52C3A40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5372C-A44F-9546-AE15-013BF4C53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649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E01D0-8669-0747-B7B4-BCEE602686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Computer Lab 4: </a:t>
            </a:r>
            <a:b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Data Preparation</a:t>
            </a:r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96AEFA-165D-E147-B736-7F114CDD8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630"/>
            <a:ext cx="9144000" cy="1178169"/>
          </a:xfrm>
        </p:spPr>
        <p:txBody>
          <a:bodyPr/>
          <a:lstStyle/>
          <a:p>
            <a:r>
              <a:rPr lang="en-GB" dirty="0"/>
              <a:t>SOST20022 Essentials of survey design and </a:t>
            </a:r>
            <a:r>
              <a:rPr lang="en-GB"/>
              <a:t>analysis 2024-25</a:t>
            </a:r>
            <a:endParaRPr lang="en-GB" dirty="0"/>
          </a:p>
          <a:p>
            <a:r>
              <a:rPr lang="en-GB" dirty="0"/>
              <a:t>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0021FF-AA06-5944-93EE-5642F88C68E5}"/>
              </a:ext>
            </a:extLst>
          </p:cNvPr>
          <p:cNvSpPr/>
          <p:nvPr/>
        </p:nvSpPr>
        <p:spPr>
          <a:xfrm>
            <a:off x="-152400" y="-140676"/>
            <a:ext cx="1676400" cy="798341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538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D47F9-D9B6-1C4A-AFDB-CFB002FA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414" y="365125"/>
            <a:ext cx="9466385" cy="1325563"/>
          </a:xfrm>
        </p:spPr>
        <p:txBody>
          <a:bodyPr/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Content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511633-B512-8644-A4DB-346CE87D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7414" y="1825625"/>
            <a:ext cx="9466386" cy="4351338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General steps of data preparation</a:t>
            </a:r>
          </a:p>
          <a:p>
            <a:r>
              <a:rPr lang="en-US" dirty="0"/>
              <a:t>Errors, missing values, outliers</a:t>
            </a:r>
            <a:endParaRPr lang="en-GB" dirty="0"/>
          </a:p>
          <a:p>
            <a:r>
              <a:rPr lang="en-GB" dirty="0"/>
              <a:t>Q &amp; A of R Basics/Essay ideas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4040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159B0-114E-2F45-9774-29F708DA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General steps for data analysis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9AA2A2-1065-534B-8F80-DB6FC56AB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748" y="1825625"/>
            <a:ext cx="1002111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000" dirty="0"/>
              <a:t> 1) setting directory/notes/packages/read data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 2) browse the data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 3) data cleaning (incorrect responses, outliers, missing data)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 4) data wrangling (meaningful and accessible</a:t>
            </a:r>
            <a:r>
              <a:rPr lang="en-US" sz="2000" dirty="0">
                <a:sym typeface="Wingdings" panose="05000000000000000000" pitchFamily="2" charset="2"/>
              </a:rPr>
              <a:t> recoding</a:t>
            </a:r>
            <a:r>
              <a:rPr lang="en-GB" sz="2000" dirty="0"/>
              <a:t>)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 5) descriptive analysis (table, figure)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 6) hypothesis testing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6B41E7-8354-EE4B-9C83-EA8693E18CD0}"/>
              </a:ext>
            </a:extLst>
          </p:cNvPr>
          <p:cNvSpPr/>
          <p:nvPr/>
        </p:nvSpPr>
        <p:spPr>
          <a:xfrm>
            <a:off x="1795748" y="3077497"/>
            <a:ext cx="6836975" cy="2188983"/>
          </a:xfrm>
          <a:prstGeom prst="rect">
            <a:avLst/>
          </a:prstGeom>
          <a:noFill/>
          <a:ln w="57150">
            <a:solidFill>
              <a:srgbClr val="7030A0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831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159B0-114E-2F45-9774-29F708DA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Errors, Missing Values, Outliers,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9AA2A2-1065-534B-8F80-DB6FC56AB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748" y="1825625"/>
            <a:ext cx="10021114" cy="4351338"/>
          </a:xfrm>
        </p:spPr>
        <p:txBody>
          <a:bodyPr>
            <a:normAutofit fontScale="92500" lnSpcReduction="20000"/>
          </a:bodyPr>
          <a:lstStyle/>
          <a:p>
            <a:r>
              <a:rPr lang="en-GB" altLang="zh-CN" sz="2400" dirty="0"/>
              <a:t>Measurement Error/ Processing error</a:t>
            </a:r>
          </a:p>
          <a:p>
            <a:pPr lvl="1"/>
            <a:r>
              <a:rPr lang="en-GB" altLang="zh-CN" sz="2000" dirty="0"/>
              <a:t>Initial check (descriptive analysis): logic check, distribution</a:t>
            </a:r>
          </a:p>
          <a:p>
            <a:pPr lvl="2"/>
            <a:r>
              <a:rPr lang="en-GB" altLang="zh-CN" sz="1600" dirty="0"/>
              <a:t>Continuous variable: histogram/ summary statistics (mean, range, </a:t>
            </a:r>
            <a:r>
              <a:rPr lang="en-GB" altLang="zh-CN" sz="1600" dirty="0" err="1"/>
              <a:t>s.d.</a:t>
            </a:r>
            <a:r>
              <a:rPr lang="en-GB" altLang="zh-CN" sz="1600" dirty="0"/>
              <a:t>)</a:t>
            </a:r>
          </a:p>
          <a:p>
            <a:pPr lvl="2"/>
            <a:r>
              <a:rPr lang="en-GB" altLang="zh-CN" sz="1600" dirty="0"/>
              <a:t>Categorical variable: bar chart/ table</a:t>
            </a:r>
          </a:p>
          <a:p>
            <a:pPr lvl="1"/>
            <a:r>
              <a:rPr lang="en-US" altLang="zh-CN" sz="2000" dirty="0"/>
              <a:t>Treat it as missing</a:t>
            </a:r>
            <a:endParaRPr lang="en-GB" altLang="zh-CN" sz="2000" dirty="0"/>
          </a:p>
          <a:p>
            <a:r>
              <a:rPr lang="en-US" sz="2400" dirty="0"/>
              <a:t>Missing values:</a:t>
            </a:r>
          </a:p>
          <a:p>
            <a:pPr lvl="1"/>
            <a:r>
              <a:rPr lang="en-US" sz="2100" dirty="0"/>
              <a:t>Ignore</a:t>
            </a:r>
          </a:p>
          <a:p>
            <a:pPr lvl="1"/>
            <a:r>
              <a:rPr lang="en-US" sz="2100" dirty="0"/>
              <a:t>Weighting</a:t>
            </a:r>
          </a:p>
          <a:p>
            <a:pPr lvl="1"/>
            <a:r>
              <a:rPr lang="en-US" sz="2100" dirty="0"/>
              <a:t>Imputation </a:t>
            </a:r>
            <a:endParaRPr lang="en-GB" sz="2100" dirty="0"/>
          </a:p>
          <a:p>
            <a:r>
              <a:rPr lang="en-GB" sz="2400" dirty="0"/>
              <a:t>Outliers</a:t>
            </a:r>
          </a:p>
          <a:p>
            <a:pPr lvl="1"/>
            <a:r>
              <a:rPr lang="en-GB" sz="2000" dirty="0"/>
              <a:t>Visualisation: boxplot, histogram</a:t>
            </a:r>
          </a:p>
          <a:p>
            <a:pPr lvl="1"/>
            <a:r>
              <a:rPr lang="en-GB" sz="2000" dirty="0"/>
              <a:t>IQR Methods</a:t>
            </a:r>
          </a:p>
          <a:p>
            <a:pPr lvl="1"/>
            <a:r>
              <a:rPr lang="en-GB" sz="2000" dirty="0"/>
              <a:t>Logic check (valid range; subjectivity)</a:t>
            </a:r>
          </a:p>
          <a:p>
            <a:pPr lvl="1"/>
            <a:r>
              <a:rPr lang="en-GB" sz="2000" dirty="0"/>
              <a:t>How to deal with them: </a:t>
            </a:r>
          </a:p>
          <a:p>
            <a:pPr lvl="2"/>
            <a:r>
              <a:rPr lang="en-GB" sz="1600" dirty="0"/>
              <a:t>Don’t do anything</a:t>
            </a:r>
          </a:p>
          <a:p>
            <a:pPr lvl="2"/>
            <a:r>
              <a:rPr lang="en-GB" sz="1600" dirty="0"/>
              <a:t>trimming, capping </a:t>
            </a:r>
          </a:p>
          <a:p>
            <a:endParaRPr lang="en-GB" altLang="zh-CN" sz="2400" dirty="0"/>
          </a:p>
          <a:p>
            <a:endParaRPr lang="en-GB" altLang="zh-CN" sz="2400" dirty="0"/>
          </a:p>
          <a:p>
            <a:endParaRPr lang="en-GB" altLang="zh-CN" sz="2400" dirty="0"/>
          </a:p>
          <a:p>
            <a:endParaRPr lang="en-GB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A8CC49-6AF0-354F-AACB-48BD9161A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077" y="3167745"/>
            <a:ext cx="4873284" cy="243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1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159B0-114E-2F45-9774-29F708DA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Useful codes for data preparation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9AA2A2-1065-534B-8F80-DB6FC56AB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748" y="1825625"/>
            <a:ext cx="10021114" cy="4351338"/>
          </a:xfrm>
        </p:spPr>
        <p:txBody>
          <a:bodyPr>
            <a:normAutofit lnSpcReduction="10000"/>
          </a:bodyPr>
          <a:lstStyle/>
          <a:p>
            <a:r>
              <a:rPr lang="en-GB" sz="2000" dirty="0"/>
              <a:t>Browse the data (initial check)</a:t>
            </a:r>
          </a:p>
          <a:p>
            <a:pPr lvl="1"/>
            <a:r>
              <a:rPr lang="en-GB" sz="1600" dirty="0"/>
              <a:t>Categorical: table(</a:t>
            </a:r>
            <a:r>
              <a:rPr lang="en-GB" sz="1600" dirty="0" err="1"/>
              <a:t>data$var</a:t>
            </a:r>
            <a:r>
              <a:rPr lang="en-GB" sz="1600" dirty="0"/>
              <a:t>); </a:t>
            </a:r>
            <a:r>
              <a:rPr lang="en-GB" sz="1600" dirty="0" err="1"/>
              <a:t>barplot</a:t>
            </a:r>
            <a:r>
              <a:rPr lang="en-GB" sz="1600" dirty="0"/>
              <a:t>(</a:t>
            </a:r>
            <a:r>
              <a:rPr lang="en-GB" altLang="zh-CN" sz="1600" dirty="0"/>
              <a:t>table(</a:t>
            </a:r>
            <a:r>
              <a:rPr lang="en-GB" altLang="zh-CN" sz="1600" dirty="0" err="1"/>
              <a:t>data$var</a:t>
            </a:r>
            <a:r>
              <a:rPr lang="en-GB" altLang="zh-CN" sz="1600" dirty="0"/>
              <a:t>)</a:t>
            </a:r>
            <a:r>
              <a:rPr lang="en-GB" sz="1600" dirty="0"/>
              <a:t>)</a:t>
            </a:r>
          </a:p>
          <a:p>
            <a:pPr lvl="1"/>
            <a:r>
              <a:rPr lang="en-GB" sz="1600" dirty="0"/>
              <a:t>Continuous: summary(</a:t>
            </a:r>
            <a:r>
              <a:rPr lang="en-GB" altLang="zh-CN" sz="1600" dirty="0" err="1"/>
              <a:t>data$var</a:t>
            </a:r>
            <a:r>
              <a:rPr lang="en-GB" altLang="zh-CN" sz="1600" dirty="0"/>
              <a:t>); mean(); </a:t>
            </a:r>
            <a:r>
              <a:rPr lang="en-GB" altLang="zh-CN" sz="1600" dirty="0" err="1"/>
              <a:t>sd</a:t>
            </a:r>
            <a:r>
              <a:rPr lang="en-GB" altLang="zh-CN" sz="1600" dirty="0"/>
              <a:t>(); quantile(); hist(</a:t>
            </a:r>
            <a:r>
              <a:rPr lang="en-GB" altLang="zh-CN" sz="1600" dirty="0" err="1"/>
              <a:t>data$var</a:t>
            </a:r>
            <a:r>
              <a:rPr lang="en-GB" altLang="zh-CN" sz="1600" dirty="0"/>
              <a:t>); boxplot(</a:t>
            </a:r>
            <a:r>
              <a:rPr lang="en-GB" altLang="zh-CN" sz="1600" dirty="0" err="1"/>
              <a:t>data$var</a:t>
            </a:r>
            <a:r>
              <a:rPr lang="en-GB" altLang="zh-CN" sz="1600" dirty="0"/>
              <a:t>)</a:t>
            </a:r>
          </a:p>
          <a:p>
            <a:pPr marL="457200" lvl="1" indent="0">
              <a:buNone/>
            </a:pPr>
            <a:endParaRPr lang="en-GB" sz="1200" dirty="0"/>
          </a:p>
          <a:p>
            <a:r>
              <a:rPr lang="en-GB" altLang="zh-CN" sz="2000" dirty="0"/>
              <a:t>Data cleaning (missing data; outliers)</a:t>
            </a:r>
          </a:p>
          <a:p>
            <a:pPr lvl="1"/>
            <a:r>
              <a:rPr lang="en-GB" sz="1600" dirty="0" err="1"/>
              <a:t>is.na</a:t>
            </a:r>
            <a:r>
              <a:rPr lang="en-GB" sz="1600" dirty="0"/>
              <a:t>()</a:t>
            </a:r>
          </a:p>
          <a:p>
            <a:pPr lvl="1"/>
            <a:r>
              <a:rPr lang="en-GB" sz="1600" dirty="0"/>
              <a:t>data[data==-9] &lt;- NA</a:t>
            </a:r>
          </a:p>
          <a:p>
            <a:pPr lvl="1"/>
            <a:r>
              <a:rPr lang="en-GB" sz="1600" dirty="0"/>
              <a:t>data[data&lt;</a:t>
            </a:r>
            <a:r>
              <a:rPr lang="en-GB" sz="1600" dirty="0" err="1"/>
              <a:t>lower_bound|data</a:t>
            </a:r>
            <a:r>
              <a:rPr lang="en-GB" sz="1600" dirty="0"/>
              <a:t>&gt;</a:t>
            </a:r>
            <a:r>
              <a:rPr lang="en-GB" sz="1600" dirty="0" err="1"/>
              <a:t>upper_bound</a:t>
            </a:r>
            <a:r>
              <a:rPr lang="en-GB" sz="1600" dirty="0"/>
              <a:t>] &lt;- NA</a:t>
            </a:r>
          </a:p>
          <a:p>
            <a:pPr marL="457200" lvl="1" indent="0">
              <a:buNone/>
            </a:pPr>
            <a:endParaRPr lang="en-GB" altLang="zh-CN" sz="2000" dirty="0"/>
          </a:p>
          <a:p>
            <a:r>
              <a:rPr lang="en-GB" altLang="zh-CN" sz="2000" dirty="0"/>
              <a:t> Data wrangling (record for specific analysis)</a:t>
            </a:r>
          </a:p>
          <a:p>
            <a:pPr lvl="1"/>
            <a:r>
              <a:rPr lang="en-GB" altLang="zh-CN" sz="1600" dirty="0"/>
              <a:t>Overwrite/Creating new variables</a:t>
            </a:r>
          </a:p>
          <a:p>
            <a:endParaRPr lang="en-GB" altLang="zh-CN" sz="2000" dirty="0"/>
          </a:p>
          <a:p>
            <a:r>
              <a:rPr lang="en-GB" sz="2000" dirty="0"/>
              <a:t> Presenting distribution </a:t>
            </a:r>
          </a:p>
          <a:p>
            <a:pPr lvl="1"/>
            <a:r>
              <a:rPr lang="en-GB" sz="1600" dirty="0" err="1"/>
              <a:t>write.table</a:t>
            </a:r>
            <a:r>
              <a:rPr lang="en-GB" sz="1600" dirty="0"/>
              <a:t>(); </a:t>
            </a:r>
            <a:r>
              <a:rPr lang="en-GB" sz="1600" dirty="0" err="1"/>
              <a:t>dev.off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3352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F91C9-DA4F-F943-A415-C22E74A2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623" y="1042018"/>
            <a:ext cx="9558051" cy="1325563"/>
          </a:xfrm>
        </p:spPr>
        <p:txBody>
          <a:bodyPr/>
          <a:lstStyle/>
          <a:p>
            <a:r>
              <a:rPr lang="en-GB" dirty="0"/>
              <a:t>More Q&amp;A…</a:t>
            </a:r>
          </a:p>
        </p:txBody>
      </p:sp>
    </p:spTree>
    <p:extLst>
      <p:ext uri="{BB962C8B-B14F-4D97-AF65-F5344CB8AC3E}">
        <p14:creationId xmlns:p14="http://schemas.microsoft.com/office/powerpoint/2010/main" val="3652776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2214</TotalTime>
  <Words>305</Words>
  <Application>Microsoft Office PowerPoint</Application>
  <PresentationFormat>Widescreen</PresentationFormat>
  <Paragraphs>57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Wingdings</vt:lpstr>
      <vt:lpstr>Office 主题​​</vt:lpstr>
      <vt:lpstr>Computer Lab 4:  Data Preparation</vt:lpstr>
      <vt:lpstr>Content</vt:lpstr>
      <vt:lpstr>General steps for data analysis</vt:lpstr>
      <vt:lpstr>Errors, Missing Values, Outliers,</vt:lpstr>
      <vt:lpstr>Useful codes for data preparation</vt:lpstr>
      <vt:lpstr>More Q&amp;A…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Lab I: Introduction to R</dc:title>
  <dc:creator>Microsoft</dc:creator>
  <cp:lastModifiedBy>Natalie Shlomo</cp:lastModifiedBy>
  <cp:revision>55</cp:revision>
  <dcterms:created xsi:type="dcterms:W3CDTF">2021-02-18T12:41:22Z</dcterms:created>
  <dcterms:modified xsi:type="dcterms:W3CDTF">2025-01-01T00:01:27Z</dcterms:modified>
</cp:coreProperties>
</file>
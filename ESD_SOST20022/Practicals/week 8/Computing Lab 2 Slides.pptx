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7" r:id="rId7"/>
    <p:sldId id="266" r:id="rId8"/>
    <p:sldId id="265" r:id="rId9"/>
    <p:sldId id="268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/>
    <p:restoredTop sz="76832" autoAdjust="0"/>
  </p:normalViewPr>
  <p:slideViewPr>
    <p:cSldViewPr snapToGrid="0" snapToObjects="1">
      <p:cViewPr varScale="1">
        <p:scale>
          <a:sx n="46" d="100"/>
          <a:sy n="46" d="100"/>
        </p:scale>
        <p:origin x="13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FC8CE-94EC-6B4C-BB9C-D99D2267B207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F0E63-D5F9-294B-9A24-B29ED7D87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73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var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&lt;-</a:t>
            </a:r>
            <a:r>
              <a:rPr lang="en-GB"/>
              <a:t> wtd.var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/>
              <a:t>x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GB"/>
              <a:t> wt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GB"/>
              <a:t> </a:t>
            </a:r>
          </a:p>
          <a:p>
            <a:r>
              <a:rPr lang="en-GB"/>
              <a:t>sd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&lt;-</a:t>
            </a:r>
            <a:r>
              <a:rPr lang="en-GB"/>
              <a:t>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sqrt(</a:t>
            </a:r>
            <a:r>
              <a:rPr lang="en-GB"/>
              <a:t>var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250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var</a:t>
            </a:r>
            <a:r>
              <a:rPr lang="en-GB" dirty="0"/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&lt;-</a:t>
            </a:r>
            <a:r>
              <a:rPr lang="en-GB" dirty="0"/>
              <a:t> </a:t>
            </a:r>
            <a:r>
              <a:rPr lang="en-GB" dirty="0" err="1"/>
              <a:t>wtd.var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dirty="0"/>
              <a:t>x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GB" dirty="0"/>
              <a:t> </a:t>
            </a:r>
            <a:r>
              <a:rPr lang="en-GB" dirty="0" err="1"/>
              <a:t>wt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GB" dirty="0"/>
              <a:t> </a:t>
            </a:r>
          </a:p>
          <a:p>
            <a:r>
              <a:rPr lang="en-GB" dirty="0" err="1"/>
              <a:t>sd</a:t>
            </a:r>
            <a:r>
              <a:rPr lang="en-GB" dirty="0"/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&lt;-</a:t>
            </a:r>
            <a:r>
              <a:rPr lang="en-GB" dirty="0"/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sqrt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dirty="0" err="1"/>
              <a:t>var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82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F66D3-CF53-FF49-A72D-0C28F8D14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2239A8-21E1-754E-B545-72845BAE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00F39-C749-AA43-A790-06C9DC52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A4E4C-5733-E34E-9DF1-A301EE9C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3EDDB-D4D6-BE40-BEDE-DA020103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3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D4231-993A-D645-9703-69323266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748" y="365125"/>
            <a:ext cx="9558051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42EBD-99A9-B947-B66A-AA4F3413E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9558052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GB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DD7B6-33E8-4947-BBFF-DB76D3A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81DB7-C38D-C24E-9BF6-1309466E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8FE96-D079-3342-AFCC-4C19D683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91B5AC-8047-DE4F-9D36-B887D06F84F5}"/>
              </a:ext>
            </a:extLst>
          </p:cNvPr>
          <p:cNvSpPr/>
          <p:nvPr userDrawn="1"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BA0C-1B1F-104F-AF26-B28A091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C5A8C-936D-D448-AF13-60F37E12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C3787-F3D4-9143-9FFA-54864469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7C691-C82B-7B4A-B761-90FA94B3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61703-6009-6148-8C3C-C0642D97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98E84-F607-6A45-8272-D93B9452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69F66-F2C4-CE48-9C87-723983C13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8126A-FE11-DD49-84F8-7B921FC0E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21561-CF7E-4845-9532-5D1FCAD1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877AB0-FD3B-D845-85AA-A404F9C2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B4D49-B8BE-6243-A3C8-16CA7C36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9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467C-5FCC-3D4F-8203-A37F06F3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A7A99-FC44-FE4B-9E4B-35590596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7084B-ECEC-744F-9563-4F5B18AB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A26098-4BE3-574C-B11B-EE1F07431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3F5D6-0A5B-F54B-BAA6-94B2BDA68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F4AEE-1D44-2943-A76C-0B99E000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FD42F7-BBFB-624F-881B-42A35F3F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27534-4357-2344-B4B9-F3D0F298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8FBEF-9B72-E54A-BCCC-C01ADB8E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624F76-312D-D14A-84BE-B57D0243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E3218-C239-9342-80D0-A3D35637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7655BA-8884-F747-8001-C4BE2861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24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C77AF-588E-D648-A78D-114180D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A87CA7-C154-4945-AF86-957EF9FC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ACCF2-8765-7643-BB58-843CB5F5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6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705C7-8B3E-B148-916B-24A3A91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B4D29-019F-504C-B96C-A83EBA94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A335A2-FEA6-044F-B685-54CA0049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E783F-7744-BF4B-AB46-FD6F0625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554E8-CEA3-2D4A-9A21-A736750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E0B38-93B9-1442-9F10-010D3F7A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7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E726B-6715-054D-9C1D-8F6F5816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FF1D6A-FDBF-684D-9BE5-59912D78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02B19-641D-2F48-A827-03AD68BBD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771644-9895-3340-B149-C73B491C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B0B31-A097-BB45-B88F-2D3F7F67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2567C-8937-3147-9D7C-3E7ECF9E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A507A-2E81-8D4E-AF25-4154C939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56D0E-9896-2347-B8FF-76EB6F17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32E88-966B-C94D-9C3F-543660F1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BD5B4C-691D-FE4D-8D28-1A1AC84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442EC-17BF-F24E-8F28-1268140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40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692B42-8388-AB49-A032-199000D23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E98D7F-62E6-7E43-937E-435511CB4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16C753-5F2D-C24B-8BC2-548E0DF6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4182A-B596-E045-9482-99FE539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6756D-687F-6B47-AD7A-3AD7C5BC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1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113B85-9A83-D049-A663-1E6F00F2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0691C-5DE0-AB4E-B8B8-353E85B7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B44BB-3F28-A04E-BA9F-F27DCE6D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31526-E3CD-9442-AA31-882F4651E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3F11A-3E2E-844A-8E6B-5B52C3A4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4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E01D0-8669-0747-B7B4-BCEE60268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Computer Lab 2: </a:t>
            </a:r>
            <a:b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Sample Statistics and Hypothesis Testing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96AEFA-165D-E147-B736-7F114CDD8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630"/>
            <a:ext cx="9144000" cy="1178169"/>
          </a:xfrm>
        </p:spPr>
        <p:txBody>
          <a:bodyPr/>
          <a:lstStyle/>
          <a:p>
            <a:r>
              <a:rPr lang="en-GB" dirty="0"/>
              <a:t>SOST20022 Essentials of survey design and </a:t>
            </a:r>
            <a:r>
              <a:rPr lang="en-GB"/>
              <a:t>analysis 2024-25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0021FF-AA06-5944-93EE-5642F88C68E5}"/>
              </a:ext>
            </a:extLst>
          </p:cNvPr>
          <p:cNvSpPr/>
          <p:nvPr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D47F9-D9B6-1C4A-AFDB-CFB002FA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414" y="365125"/>
            <a:ext cx="9466385" cy="1325563"/>
          </a:xfrm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11633-B512-8644-A4DB-346CE87D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414" y="1825625"/>
            <a:ext cx="9466386" cy="4351338"/>
          </a:xfrm>
        </p:spPr>
        <p:txBody>
          <a:bodyPr/>
          <a:lstStyle/>
          <a:p>
            <a:r>
              <a:rPr lang="en-GB" dirty="0"/>
              <a:t>The procedure for conducting hypothesis testing in 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Solutions to the exercise</a:t>
            </a:r>
          </a:p>
          <a:p>
            <a:endParaRPr lang="en-GB" dirty="0"/>
          </a:p>
          <a:p>
            <a:r>
              <a:rPr lang="en-GB" dirty="0"/>
              <a:t>Q&amp;A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04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Procedure for conducting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 Formulate the null and alternative hypotheses (H0 and H1)</a:t>
            </a:r>
          </a:p>
          <a:p>
            <a:r>
              <a:rPr lang="en-GB" dirty="0"/>
              <a:t>2. Calculate the sample statistic and the standard error</a:t>
            </a:r>
          </a:p>
          <a:p>
            <a:r>
              <a:rPr lang="en-GB" dirty="0"/>
              <a:t>3. Calculate the test statistic</a:t>
            </a:r>
          </a:p>
          <a:p>
            <a:r>
              <a:rPr lang="en-GB" dirty="0"/>
              <a:t>4. Compare the test statistic against the null-distribution</a:t>
            </a:r>
          </a:p>
          <a:p>
            <a:r>
              <a:rPr lang="en-GB" dirty="0"/>
              <a:t>5. Make a decision about H0 and H1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25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One-tailed Vs Two-tailed Tests I CFA Level 1 - AnalystPre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56" y="526026"/>
            <a:ext cx="9438033" cy="576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77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62B338-D468-2641-ABF4-76178014D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65" y="2529400"/>
            <a:ext cx="3222194" cy="247456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28AB1BA5-C287-964D-A8D9-9E0E8B2ECB56}"/>
              </a:ext>
            </a:extLst>
          </p:cNvPr>
          <p:cNvSpPr/>
          <p:nvPr/>
        </p:nvSpPr>
        <p:spPr>
          <a:xfrm>
            <a:off x="4780344" y="2529400"/>
            <a:ext cx="550116" cy="676787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C5A68A0-09B0-374C-8CE8-1C8D38A4F181}"/>
              </a:ext>
            </a:extLst>
          </p:cNvPr>
          <p:cNvCxnSpPr>
            <a:cxnSpLocks/>
          </p:cNvCxnSpPr>
          <p:nvPr/>
        </p:nvCxnSpPr>
        <p:spPr>
          <a:xfrm>
            <a:off x="5297063" y="2954235"/>
            <a:ext cx="79893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4F687DC-4132-5940-AF41-328827EAD50B}"/>
                  </a:ext>
                </a:extLst>
              </p:cNvPr>
              <p:cNvSpPr txBox="1"/>
              <p:nvPr/>
            </p:nvSpPr>
            <p:spPr>
              <a:xfrm>
                <a:off x="6256341" y="2665305"/>
                <a:ext cx="3954865" cy="607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4F687DC-4132-5940-AF41-328827EAD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41" y="2665305"/>
                <a:ext cx="3954865" cy="607602"/>
              </a:xfrm>
              <a:prstGeom prst="rect">
                <a:avLst/>
              </a:prstGeom>
              <a:blipFill>
                <a:blip r:embed="rId4"/>
                <a:stretch>
                  <a:fillRect l="-958" t="-75510" b="-108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752" y="1383533"/>
            <a:ext cx="3095625" cy="933450"/>
          </a:xfrm>
          <a:prstGeom prst="rect">
            <a:avLst/>
          </a:prstGeom>
        </p:spPr>
      </p:pic>
      <p:cxnSp>
        <p:nvCxnSpPr>
          <p:cNvPr id="10" name="直线箭头连接符 8">
            <a:extLst>
              <a:ext uri="{FF2B5EF4-FFF2-40B4-BE49-F238E27FC236}">
                <a16:creationId xmlns:a16="http://schemas.microsoft.com/office/drawing/2014/main" id="{6C5A68A0-09B0-374C-8CE8-1C8D38A4F181}"/>
              </a:ext>
            </a:extLst>
          </p:cNvPr>
          <p:cNvCxnSpPr>
            <a:cxnSpLocks/>
          </p:cNvCxnSpPr>
          <p:nvPr/>
        </p:nvCxnSpPr>
        <p:spPr>
          <a:xfrm>
            <a:off x="6577781" y="2182761"/>
            <a:ext cx="0" cy="48254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08265" y="372979"/>
            <a:ext cx="7781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Weighted Variance (population parameter) </a:t>
            </a:r>
          </a:p>
        </p:txBody>
      </p:sp>
    </p:spTree>
    <p:extLst>
      <p:ext uri="{BB962C8B-B14F-4D97-AF65-F5344CB8AC3E}">
        <p14:creationId xmlns:p14="http://schemas.microsoft.com/office/powerpoint/2010/main" val="38110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C5A68A0-09B0-374C-8CE8-1C8D38A4F181}"/>
              </a:ext>
            </a:extLst>
          </p:cNvPr>
          <p:cNvCxnSpPr>
            <a:cxnSpLocks/>
          </p:cNvCxnSpPr>
          <p:nvPr/>
        </p:nvCxnSpPr>
        <p:spPr>
          <a:xfrm>
            <a:off x="5297063" y="3369270"/>
            <a:ext cx="79893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08265" y="372979"/>
            <a:ext cx="8575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Weighted standard deviation (Sample statistics; consistent estimate)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247" y="2745452"/>
            <a:ext cx="2235315" cy="12827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797" y="2312851"/>
            <a:ext cx="3090686" cy="21479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32204" y="4676274"/>
            <a:ext cx="8575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Unweighted                                      weighted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6401" y="5414950"/>
            <a:ext cx="21167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R:</a:t>
            </a:r>
          </a:p>
          <a:p>
            <a:r>
              <a:rPr lang="en-GB" dirty="0" err="1"/>
              <a:t>var</a:t>
            </a:r>
            <a:r>
              <a:rPr lang="en-GB" dirty="0"/>
              <a:t> &lt;- </a:t>
            </a:r>
            <a:r>
              <a:rPr lang="en-GB" dirty="0" err="1"/>
              <a:t>wtd.var</a:t>
            </a:r>
            <a:r>
              <a:rPr lang="en-GB" dirty="0"/>
              <a:t>(x, </a:t>
            </a:r>
            <a:r>
              <a:rPr lang="en-GB" dirty="0" err="1"/>
              <a:t>wt</a:t>
            </a:r>
            <a:r>
              <a:rPr lang="en-GB" dirty="0"/>
              <a:t>) </a:t>
            </a:r>
          </a:p>
          <a:p>
            <a:r>
              <a:rPr lang="en-GB" dirty="0" err="1"/>
              <a:t>sd</a:t>
            </a:r>
            <a:r>
              <a:rPr lang="en-GB" dirty="0"/>
              <a:t> &lt;- </a:t>
            </a:r>
            <a:r>
              <a:rPr lang="en-GB" dirty="0" err="1"/>
              <a:t>sqrt</a:t>
            </a:r>
            <a:r>
              <a:rPr lang="en-GB" dirty="0"/>
              <a:t>(</a:t>
            </a:r>
            <a:r>
              <a:rPr lang="en-GB" dirty="0" err="1"/>
              <a:t>var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19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F91C9-DA4F-F943-A415-C22E74A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623" y="1042018"/>
            <a:ext cx="9558051" cy="1325563"/>
          </a:xfrm>
        </p:spPr>
        <p:txBody>
          <a:bodyPr/>
          <a:lstStyle/>
          <a:p>
            <a:r>
              <a:rPr lang="en-GB" dirty="0"/>
              <a:t>More Q&amp;A…</a:t>
            </a:r>
          </a:p>
        </p:txBody>
      </p:sp>
    </p:spTree>
    <p:extLst>
      <p:ext uri="{BB962C8B-B14F-4D97-AF65-F5344CB8AC3E}">
        <p14:creationId xmlns:p14="http://schemas.microsoft.com/office/powerpoint/2010/main" val="365277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65FFE1E7D84948B20B88BD85CE8D03" ma:contentTypeVersion="11" ma:contentTypeDescription="Create a new document." ma:contentTypeScope="" ma:versionID="6d9b27525a4f1ad571dc0d944fd0cfd4">
  <xsd:schema xmlns:xsd="http://www.w3.org/2001/XMLSchema" xmlns:xs="http://www.w3.org/2001/XMLSchema" xmlns:p="http://schemas.microsoft.com/office/2006/metadata/properties" xmlns:ns3="e17fd0f9-c455-40c8-9dfe-f1f82d50eccf" targetNamespace="http://schemas.microsoft.com/office/2006/metadata/properties" ma:root="true" ma:fieldsID="9e16ee52559da170c72e2351968bd849" ns3:_="">
    <xsd:import namespace="e17fd0f9-c455-40c8-9dfe-f1f82d50ec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fd0f9-c455-40c8-9dfe-f1f82d50ec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4E37DD-015A-48D6-8AC4-7C1841967511}">
  <ds:schemaRefs>
    <ds:schemaRef ds:uri="e17fd0f9-c455-40c8-9dfe-f1f82d50eccf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916532-6B6F-4591-A4AC-A2F1085905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7fd0f9-c455-40c8-9dfe-f1f82d50e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980A00-2A55-4F54-8890-430646306E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170</Words>
  <Application>Microsoft Office PowerPoint</Application>
  <PresentationFormat>Widescreen</PresentationFormat>
  <Paragraphs>30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Cambria Math</vt:lpstr>
      <vt:lpstr>Office 主题​​</vt:lpstr>
      <vt:lpstr>Computer Lab 2:  Sample Statistics and Hypothesis Testing</vt:lpstr>
      <vt:lpstr>Content</vt:lpstr>
      <vt:lpstr>Procedure for conducting hypothesis testing</vt:lpstr>
      <vt:lpstr>PowerPoint Presentation</vt:lpstr>
      <vt:lpstr>PowerPoint Presentation</vt:lpstr>
      <vt:lpstr>PowerPoint Presentation</vt:lpstr>
      <vt:lpstr>More Q&amp;A…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Lab I: Introduction to R</dc:title>
  <dc:creator>Microsoft</dc:creator>
  <cp:lastModifiedBy>Natalie Shlomo</cp:lastModifiedBy>
  <cp:revision>48</cp:revision>
  <dcterms:created xsi:type="dcterms:W3CDTF">2021-02-18T12:41:22Z</dcterms:created>
  <dcterms:modified xsi:type="dcterms:W3CDTF">2025-01-01T00:00:42Z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0x010100CD65FFE1E7D84948B20B88BD85CE8D03</vt:lpwstr>
  </property>
</Properties>
</file>